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74" y="3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1005840"/>
            <a:ext cx="256032" cy="256032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1828800"/>
            <a:ext cx="256032" cy="256032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2834640"/>
            <a:ext cx="256032" cy="256032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3657600"/>
            <a:ext cx="256032" cy="256032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0" y="4023360"/>
            <a:ext cx="256032" cy="256032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4937760"/>
            <a:ext cx="256032" cy="256032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9637776" y="1188720"/>
            <a:ext cx="1261872" cy="685799"/>
          </a:xfrm>
          <a:prstGeom prst="line">
            <a:avLst/>
          </a:prstGeom>
          <a:ln w="25400">
            <a:solidFill>
              <a:srgbClr val="496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893808" y="2011680"/>
            <a:ext cx="1005840" cy="868680"/>
          </a:xfrm>
          <a:prstGeom prst="line">
            <a:avLst/>
          </a:prstGeom>
          <a:ln w="25400">
            <a:solidFill>
              <a:srgbClr val="496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93808" y="3017520"/>
            <a:ext cx="1152144" cy="640080"/>
          </a:xfrm>
          <a:prstGeom prst="line">
            <a:avLst/>
          </a:prstGeom>
          <a:ln w="25400">
            <a:solidFill>
              <a:srgbClr val="496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125712" y="3794760"/>
            <a:ext cx="1847088" cy="320040"/>
          </a:xfrm>
          <a:prstGeom prst="line">
            <a:avLst/>
          </a:prstGeom>
          <a:ln w="25400">
            <a:solidFill>
              <a:srgbClr val="496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4251960"/>
            <a:ext cx="1188720" cy="731520"/>
          </a:xfrm>
          <a:prstGeom prst="line">
            <a:avLst/>
          </a:prstGeom>
          <a:ln w="25400">
            <a:solidFill>
              <a:srgbClr val="496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058400" y="3794760"/>
            <a:ext cx="914400" cy="1051560"/>
          </a:xfrm>
          <a:prstGeom prst="line">
            <a:avLst/>
          </a:prstGeom>
          <a:ln w="25400">
            <a:solidFill>
              <a:srgbClr val="496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658368"/>
            <a:ext cx="2331720" cy="347472"/>
          </a:xfrm>
          <a:prstGeom prst="roundRect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694944"/>
            <a:ext cx="218541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DAA PROJECT • PROBLEM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417320"/>
            <a:ext cx="7680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School Bus
Route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63240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3E0F1"/>
                </a:solidFill>
                <a:latin typeface="Aptos"/>
              </a:rPr>
              <a:t>An algorithm-centric prototype for efficient, capacity-aware school-bus pickup routing.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3017520" cy="749808"/>
          </a:xfrm>
          <a:prstGeom prst="roundRect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5010912"/>
            <a:ext cx="6217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810512" y="5010912"/>
            <a:ext cx="6217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3000" y="5376672"/>
            <a:ext cx="320040" cy="320040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880360" y="5376672"/>
            <a:ext cx="320040" cy="320040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5989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BCC9"/>
                </a:solidFill>
                <a:latin typeface="Aptos"/>
              </a:rPr>
              <a:t>Dijkstra  •  BFS  •  Greedy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59893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B7C8DF"/>
                </a:solidFill>
                <a:latin typeface="Aptos"/>
              </a:rPr>
              <a:t>Python • Flask • React • PostgreSQL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F0EE7-691C-3B3C-D059-E5610DA15CB2}"/>
              </a:ext>
            </a:extLst>
          </p:cNvPr>
          <p:cNvSpPr txBox="1"/>
          <p:nvPr/>
        </p:nvSpPr>
        <p:spPr>
          <a:xfrm>
            <a:off x="5495544" y="4220956"/>
            <a:ext cx="2624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CH.AJAYSAI</a:t>
            </a:r>
          </a:p>
          <a:p>
            <a:r>
              <a:rPr lang="en-IN" dirty="0">
                <a:solidFill>
                  <a:schemeClr val="bg1"/>
                </a:solidFill>
              </a:rPr>
              <a:t>D.SANDEEP</a:t>
            </a:r>
          </a:p>
          <a:p>
            <a:r>
              <a:rPr lang="en-IN" dirty="0">
                <a:solidFill>
                  <a:schemeClr val="bg1"/>
                </a:solidFill>
              </a:rPr>
              <a:t>K.NITHINRAJU</a:t>
            </a:r>
          </a:p>
          <a:p>
            <a:r>
              <a:rPr lang="en-IN" dirty="0">
                <a:solidFill>
                  <a:schemeClr val="bg1"/>
                </a:solidFill>
              </a:rPr>
              <a:t>Y.SATHVIKREDDY</a:t>
            </a:r>
          </a:p>
          <a:p>
            <a:r>
              <a:rPr lang="en-IN" dirty="0">
                <a:solidFill>
                  <a:schemeClr val="bg1"/>
                </a:solidFill>
              </a:rPr>
              <a:t>T.AKASH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F162AC9-4B4D-A0FC-ED44-4FDB8E03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-25860"/>
            <a:ext cx="8930640" cy="1367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"/>
              </a:rPr>
              <a:t>1. Problem &amp; 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Convert real-world pickup requirements into an explainable routing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C70D6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C70D6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2768"/>
            <a:ext cx="8823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C"/>
                </a:solidFill>
                <a:latin typeface="Aptos"/>
              </a:rPr>
              <a:t>Find efficient bus pickup routes while balancing road distance, stop priorities and vehicle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2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2999232"/>
            <a:ext cx="420624" cy="420624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07238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9718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C70D6"/>
                </a:solidFill>
                <a:latin typeface="Aptos"/>
              </a:rPr>
              <a:t>STOPS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58444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C"/>
                </a:solidFill>
                <a:latin typeface="Aptos"/>
              </a:rPr>
              <a:t>Pickup locations + school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7" y="278892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30168" y="2999232"/>
            <a:ext cx="420624" cy="420624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307238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29718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BCC9"/>
                </a:solidFill>
                <a:latin typeface="Aptos"/>
              </a:rPr>
              <a:t>ROADS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358444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C"/>
                </a:solidFill>
                <a:latin typeface="Aptos"/>
              </a:rPr>
              <a:t>Distance / travel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278892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19088" y="2999232"/>
            <a:ext cx="420624" cy="420624"/>
          </a:xfrm>
          <a:prstGeom prst="ellipse">
            <a:avLst/>
          </a:prstGeom>
          <a:solidFill>
            <a:srgbClr val="34A869"/>
          </a:solidFill>
          <a:ln>
            <a:solidFill>
              <a:srgbClr val="34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07238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9718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A869"/>
                </a:solidFill>
                <a:latin typeface="Aptos"/>
              </a:rPr>
              <a:t>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358444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C"/>
                </a:solidFill>
                <a:latin typeface="Aptos"/>
              </a:rPr>
              <a:t>Seats available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2788920"/>
            <a:ext cx="2514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08007" y="2999232"/>
            <a:ext cx="420624" cy="420624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7" y="307238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29718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9134"/>
                </a:solidFill>
                <a:latin typeface="Aptos"/>
              </a:rPr>
              <a:t>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3584448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C"/>
                </a:solidFill>
                <a:latin typeface="Aptos"/>
              </a:rPr>
              <a:t>Approx. pickup urgency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3036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082"/>
                </a:solidFill>
                <a:latin typeface="Aptos"/>
              </a:rPr>
              <a:t>Primary 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175504"/>
            <a:ext cx="8778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3D"/>
                </a:solidFill>
                <a:latin typeface="Aptos"/>
              </a:rPr>
              <a:t>Minimize total route cost / distance while keeping assignments feasible and decisions transparent.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5961888"/>
            <a:ext cx="5486400" cy="347472"/>
          </a:xfrm>
          <a:prstGeom prst="roundRect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0712" y="5998464"/>
            <a:ext cx="53400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INPUT → GRAPH → ALGORITHM → EXPLAINABLE ROUTE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601968"/>
            <a:ext cx="109270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"/>
              </a:rPr>
              <a:t>2. Data Model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The prototype represents the road network as a weighted graph and keeps every decision traceable.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C70D6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663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C70D6"/>
                </a:solidFill>
                <a:latin typeface="Aptos"/>
              </a:rPr>
              <a:t>CORE DATA STRUCTURES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384048" cy="384048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1671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3055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Adjacency list of stops + road distances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90088"/>
            <a:ext cx="384048" cy="384048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30083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7180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ID, location, priority, student count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31336"/>
            <a:ext cx="384048" cy="384048"/>
          </a:xfrm>
          <a:prstGeom prst="ellipse">
            <a:avLst/>
          </a:prstGeom>
          <a:solidFill>
            <a:srgbClr val="34A869"/>
          </a:solidFill>
          <a:ln>
            <a:solidFill>
              <a:srgbClr val="34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849624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81304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Capacity, start point, assigned stops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72584"/>
            <a:ext cx="384048" cy="384048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469087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65429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Ordered stops + path distance +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645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C70D6"/>
                </a:solidFill>
                <a:latin typeface="Aptos"/>
              </a:rPr>
              <a:t>SYSTEM FLOW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03120"/>
            <a:ext cx="393192" cy="393192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2185415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93976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084831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Stops, roads, capacity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316" y="2496312"/>
            <a:ext cx="0" cy="320040"/>
          </a:xfrm>
          <a:prstGeom prst="line">
            <a:avLst/>
          </a:prstGeom>
          <a:ln w="25400">
            <a:solidFill>
              <a:srgbClr val="CD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760720" y="2816352"/>
            <a:ext cx="393192" cy="393192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2898648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80720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798064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Weighted 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57316" y="3209544"/>
            <a:ext cx="0" cy="320040"/>
          </a:xfrm>
          <a:prstGeom prst="line">
            <a:avLst/>
          </a:prstGeom>
          <a:ln w="25400">
            <a:solidFill>
              <a:srgbClr val="CD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60720" y="3529584"/>
            <a:ext cx="393192" cy="393192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3611879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52044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511296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Dijkstra / BFS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57316" y="3922776"/>
            <a:ext cx="0" cy="320040"/>
          </a:xfrm>
          <a:prstGeom prst="line">
            <a:avLst/>
          </a:prstGeom>
          <a:ln w="25400">
            <a:solidFill>
              <a:srgbClr val="CD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760720" y="4242816"/>
            <a:ext cx="393192" cy="393192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4325112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33672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Assign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224528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Greedy bus-stop selection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57316" y="4636007"/>
            <a:ext cx="0" cy="320041"/>
          </a:xfrm>
          <a:prstGeom prst="line">
            <a:avLst/>
          </a:prstGeom>
          <a:ln w="25400">
            <a:solidFill>
              <a:srgbClr val="CD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760720" y="4956048"/>
            <a:ext cx="393192" cy="393192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503834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946904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9377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Route + metrics + explanation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0" y="5650992"/>
            <a:ext cx="1143000" cy="347472"/>
          </a:xfrm>
          <a:prstGeom prst="roundRect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88152" y="5687568"/>
            <a:ext cx="9966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TECH 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660136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Python  |  Flask API  |  React UI  |  PostgreSQL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6601968"/>
            <a:ext cx="109270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"/>
              </a:rPr>
              <a:t>3. Dijkstra — Least-Cost Road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Use non-negative road costs to find the shortest path between pickup points and the school.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C70D6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7589520" y="1828800"/>
            <a:ext cx="2194560" cy="100584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67928" y="2221991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9144000" y="1828800"/>
            <a:ext cx="640080" cy="182880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45167" y="263347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834640"/>
            <a:ext cx="1554480" cy="82296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47888" y="3136391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217920" y="2834640"/>
            <a:ext cx="1371600" cy="73152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309067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0" y="3566160"/>
            <a:ext cx="2926080" cy="9144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62088" y="350215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3566160"/>
            <a:ext cx="1097280" cy="109728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47688" y="400507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3657600"/>
            <a:ext cx="1188720" cy="100584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19488" y="4050791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4663440"/>
            <a:ext cx="3017520" cy="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5088" y="455371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315200" y="3657600"/>
            <a:ext cx="1828800" cy="1005840"/>
          </a:xfrm>
          <a:prstGeom prst="line">
            <a:avLst/>
          </a:prstGeom>
          <a:ln w="25400">
            <a:solidFill>
              <a:srgbClr val="AEB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10727" y="4050791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082"/>
                </a:solidFill>
                <a:latin typeface="Aptos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1" y="1627632"/>
            <a:ext cx="402336" cy="402336"/>
          </a:xfrm>
          <a:prstGeom prst="ellipse">
            <a:avLst/>
          </a:prstGeom>
          <a:solidFill>
            <a:srgbClr val="34A869"/>
          </a:solidFill>
          <a:ln>
            <a:solidFill>
              <a:srgbClr val="34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0848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33D"/>
                </a:solidFill>
                <a:latin typeface="Aptos"/>
              </a:rPr>
              <a:t>School</a:t>
            </a:r>
          </a:p>
        </p:txBody>
      </p:sp>
      <p:sp>
        <p:nvSpPr>
          <p:cNvPr id="25" name="Oval 24"/>
          <p:cNvSpPr/>
          <p:nvPr/>
        </p:nvSpPr>
        <p:spPr>
          <a:xfrm>
            <a:off x="7388352" y="2633472"/>
            <a:ext cx="402336" cy="402336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30906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33D"/>
                </a:solidFill>
                <a:latin typeface="Aptos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8942832" y="3456432"/>
            <a:ext cx="402336" cy="402336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39136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33D"/>
                </a:solidFill>
                <a:latin typeface="Aptos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7114032" y="4462272"/>
            <a:ext cx="402336" cy="402336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49194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33D"/>
                </a:solidFill>
                <a:latin typeface="Aptos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10131552" y="4462272"/>
            <a:ext cx="402336" cy="402336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0" y="491947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33D"/>
                </a:solidFill>
                <a:latin typeface="Aptos"/>
              </a:rPr>
              <a:t>D</a:t>
            </a:r>
          </a:p>
        </p:txBody>
      </p:sp>
      <p:sp>
        <p:nvSpPr>
          <p:cNvPr id="33" name="Oval 32"/>
          <p:cNvSpPr/>
          <p:nvPr/>
        </p:nvSpPr>
        <p:spPr>
          <a:xfrm>
            <a:off x="6016752" y="3364991"/>
            <a:ext cx="402336" cy="402336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3822191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4233D"/>
                </a:solidFill>
                <a:latin typeface="Aptos"/>
              </a:rPr>
              <a:t>E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589520" y="1828800"/>
            <a:ext cx="2194560" cy="1005840"/>
          </a:xfrm>
          <a:prstGeom prst="line">
            <a:avLst/>
          </a:prstGeom>
          <a:ln w="50800">
            <a:solidFill>
              <a:srgbClr val="F49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217920" y="2834640"/>
            <a:ext cx="1371600" cy="731520"/>
          </a:xfrm>
          <a:prstGeom prst="line">
            <a:avLst/>
          </a:prstGeom>
          <a:ln w="50800">
            <a:solidFill>
              <a:srgbClr val="F49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17920" y="3566160"/>
            <a:ext cx="1097280" cy="1097280"/>
          </a:xfrm>
          <a:prstGeom prst="line">
            <a:avLst/>
          </a:prstGeom>
          <a:ln w="50800">
            <a:solidFill>
              <a:srgbClr val="F491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0080" y="1417320"/>
            <a:ext cx="4572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1691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C70D6"/>
                </a:solidFill>
                <a:latin typeface="Aptos"/>
              </a:rPr>
              <a:t>HOW DIJKSTRA DECIDES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2148840"/>
            <a:ext cx="38862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Char char="•"/>
              <a:defRPr sz="1400">
                <a:solidFill>
                  <a:srgbClr val="232D3C"/>
                </a:solidFill>
                <a:latin typeface="Aptos"/>
              </a:defRPr>
            </a:pPr>
            <a:r>
              <a:t>•  Set source distance = 0; all others = ∞.</a:t>
            </a:r>
          </a:p>
          <a:p>
            <a:pPr>
              <a:spcAft>
                <a:spcPts val="10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 Pick the unexplored node with the smallest tentative cost.</a:t>
            </a:r>
          </a:p>
          <a:p>
            <a:pPr>
              <a:spcAft>
                <a:spcPts val="10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 Relax neighboring edges and update cheaper distances.</a:t>
            </a:r>
          </a:p>
          <a:p>
            <a:pPr>
              <a:spcAft>
                <a:spcPts val="10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 Repeat until the target is settled.</a:t>
            </a:r>
          </a:p>
          <a:p>
            <a:pPr>
              <a:spcAft>
                <a:spcPts val="1000"/>
              </a:spcAft>
              <a:defRPr sz="1400">
                <a:solidFill>
                  <a:srgbClr val="232D3C"/>
                </a:solidFill>
                <a:latin typeface="Aptos"/>
              </a:defRPr>
            </a:pPr>
            <a:r>
              <a:t>•  Backtrack predecessor links to reconstruct the path.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257800"/>
            <a:ext cx="868680" cy="347472"/>
          </a:xfrm>
          <a:prstGeom prst="roundRect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7552" y="5294376"/>
            <a:ext cx="722375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266944"/>
            <a:ext cx="2971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4233D"/>
                </a:solidFill>
                <a:latin typeface="Aptos"/>
              </a:rPr>
              <a:t>School ← A ← E ← C  |  cost = 4 + 3 + 4 =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54864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082"/>
                </a:solidFill>
                <a:latin typeface="Aptos"/>
              </a:rPr>
              <a:t>Why it matters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6811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Every selected road segment can be explained and audited.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601968"/>
            <a:ext cx="109270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"/>
              </a:rPr>
              <a:t>4. BFS + Greedy — Reachability &amp; Pickup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Use BFS for minimum-hop exploration and Greedy to build a feasible route with clear local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C70D6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BCC9"/>
                </a:solidFill>
                <a:latin typeface="Aptos"/>
              </a:rPr>
              <a:t>BFS  |  LEVEL-BY-LEVEL SEARCH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56946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School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2679192"/>
            <a:ext cx="640080" cy="0"/>
          </a:xfrm>
          <a:prstGeom prst="line">
            <a:avLst/>
          </a:prstGeom>
          <a:ln w="25400">
            <a:solidFill>
              <a:srgbClr val="B9C5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103120" y="2423160"/>
            <a:ext cx="502920" cy="502920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256946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06324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A,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39" y="2679192"/>
            <a:ext cx="640081" cy="0"/>
          </a:xfrm>
          <a:prstGeom prst="line">
            <a:avLst/>
          </a:prstGeom>
          <a:ln w="25400">
            <a:solidFill>
              <a:srgbClr val="B9C5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246120" y="2423160"/>
            <a:ext cx="502920" cy="502920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256946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6324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C, D, 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49039" y="2679192"/>
            <a:ext cx="640081" cy="0"/>
          </a:xfrm>
          <a:prstGeom prst="line">
            <a:avLst/>
          </a:prstGeom>
          <a:ln w="25400">
            <a:solidFill>
              <a:srgbClr val="B9C5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389120" y="2423160"/>
            <a:ext cx="502920" cy="502920"/>
          </a:xfrm>
          <a:prstGeom prst="ellipse">
            <a:avLst/>
          </a:prstGeom>
          <a:solidFill>
            <a:srgbClr val="7797D3"/>
          </a:solidFill>
          <a:ln>
            <a:solidFill>
              <a:srgbClr val="779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56946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063240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F, 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082"/>
                </a:solidFill>
                <a:latin typeface="Aptos"/>
              </a:rPr>
              <a:t>Useful for: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4434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buChar char="•"/>
              <a:defRPr sz="1350">
                <a:solidFill>
                  <a:srgbClr val="232D3C"/>
                </a:solidFill>
                <a:latin typeface="Aptos"/>
              </a:defRPr>
            </a:pPr>
            <a:r>
              <a:t>•  Minimum-hop paths in suitable unweighted graphs</a:t>
            </a:r>
          </a:p>
          <a:p>
            <a:pPr>
              <a:spcAft>
                <a:spcPts val="700"/>
              </a:spcAft>
              <a:defRPr sz="1350">
                <a:solidFill>
                  <a:srgbClr val="232D3C"/>
                </a:solidFill>
                <a:latin typeface="Aptos"/>
              </a:defRPr>
            </a:pPr>
            <a:r>
              <a:t>•  Reachability / disconnected-stop detection</a:t>
            </a:r>
          </a:p>
          <a:p>
            <a:pPr>
              <a:spcAft>
                <a:spcPts val="700"/>
              </a:spcAft>
              <a:defRPr sz="1350">
                <a:solidFill>
                  <a:srgbClr val="232D3C"/>
                </a:solidFill>
                <a:latin typeface="Aptos"/>
              </a:defRPr>
            </a:pPr>
            <a:r>
              <a:t>•  Exploring the network level by level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6916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9134"/>
                </a:solidFill>
                <a:latin typeface="Aptos"/>
              </a:rPr>
              <a:t>GREEDY  |  LOCAL FEASIBILITY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2402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233D"/>
                </a:solidFill>
                <a:latin typeface="Aptos"/>
              </a:rPr>
              <a:t>At each step, select the best feasible next stop.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2788920"/>
            <a:ext cx="329184" cy="329184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85292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277977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32D3C"/>
                </a:solidFill>
                <a:latin typeface="Aptos"/>
              </a:rPr>
              <a:t>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770632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082"/>
                </a:solidFill>
                <a:latin typeface="Aptos"/>
              </a:rPr>
              <a:t>Do not exceed available seats.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3447287"/>
            <a:ext cx="329184" cy="329184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3511295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3438144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32D3C"/>
                </a:solidFill>
                <a:latin typeface="Aptos"/>
              </a:rPr>
              <a:t>Priority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428999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082"/>
                </a:solidFill>
                <a:latin typeface="Aptos"/>
              </a:rPr>
              <a:t>Prefer higher pickup priority.</a:t>
            </a:r>
          </a:p>
        </p:txBody>
      </p:sp>
      <p:sp>
        <p:nvSpPr>
          <p:cNvPr id="35" name="Oval 34"/>
          <p:cNvSpPr/>
          <p:nvPr/>
        </p:nvSpPr>
        <p:spPr>
          <a:xfrm>
            <a:off x="6446520" y="4105656"/>
            <a:ext cx="329184" cy="329184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416966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4096512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32D3C"/>
                </a:solidFill>
                <a:latin typeface="Aptos"/>
              </a:rPr>
              <a:t>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08736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082"/>
                </a:solidFill>
                <a:latin typeface="Aptos"/>
              </a:rPr>
              <a:t>Among feasible choices, prefer lower added distance.</a:t>
            </a:r>
          </a:p>
        </p:txBody>
      </p:sp>
      <p:sp>
        <p:nvSpPr>
          <p:cNvPr id="39" name="Oval 38"/>
          <p:cNvSpPr/>
          <p:nvPr/>
        </p:nvSpPr>
        <p:spPr>
          <a:xfrm>
            <a:off x="6446520" y="4764024"/>
            <a:ext cx="329184" cy="329184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482803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475488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32D3C"/>
                </a:solidFill>
                <a:latin typeface="Aptos"/>
              </a:rPr>
              <a:t>Update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745736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082"/>
                </a:solidFill>
                <a:latin typeface="Aptos"/>
              </a:rPr>
              <a:t>Record load, distance and next decision.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601968"/>
            <a:ext cx="109270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33D"/>
                </a:solidFill>
                <a:latin typeface="Aptos"/>
              </a:rPr>
              <a:t>5. End-to-End Route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082"/>
                </a:solidFill>
                <a:latin typeface="Aptos"/>
              </a:rPr>
              <a:t>A small scenario shows how the algorithms cooperate and how the final decision becomes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38912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2C70D6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1097280" cy="457200"/>
          </a:xfrm>
          <a:prstGeom prst="rect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563624"/>
            <a:ext cx="9509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463040"/>
            <a:ext cx="1508760" cy="457200"/>
          </a:xfrm>
          <a:prstGeom prst="rect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56231" y="1563624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463040"/>
            <a:ext cx="1600200" cy="457200"/>
          </a:xfrm>
          <a:prstGeom prst="rect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64991" y="1563624"/>
            <a:ext cx="1453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Priority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463040"/>
            <a:ext cx="1828800" cy="457200"/>
          </a:xfrm>
          <a:prstGeom prst="rect">
            <a:avLst/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1563624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Distance to 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92024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057400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1920240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56231" y="2057400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39" y="1920240"/>
            <a:ext cx="1600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1" y="2057400"/>
            <a:ext cx="1453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9202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5192" y="205740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2 km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423160"/>
            <a:ext cx="109728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2560320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2423160"/>
            <a:ext cx="150876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56231" y="2560320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39" y="2423160"/>
            <a:ext cx="160020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1" y="2560320"/>
            <a:ext cx="1453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2423160"/>
            <a:ext cx="182880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65192" y="256032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3 km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292608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3063240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2926080"/>
            <a:ext cx="15087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56231" y="3063240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2926080"/>
            <a:ext cx="1600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64991" y="3063240"/>
            <a:ext cx="1453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9260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65192" y="306324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2 km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429000"/>
            <a:ext cx="109728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3566160"/>
            <a:ext cx="9509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32D3C"/>
                </a:solidFill>
                <a:latin typeface="Aptos"/>
              </a:rPr>
              <a:t>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83080" y="3429000"/>
            <a:ext cx="150876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56231" y="3566160"/>
            <a:ext cx="1362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39" y="3429000"/>
            <a:ext cx="160020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64991" y="3566160"/>
            <a:ext cx="1453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3429000"/>
            <a:ext cx="1828800" cy="5029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65192" y="3566160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232D3C"/>
                </a:solidFill>
                <a:latin typeface="Aptos"/>
              </a:rPr>
              <a:t>4 km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1463040"/>
            <a:ext cx="42519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43800" y="1737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4A869"/>
                </a:solidFill>
                <a:latin typeface="Aptos"/>
              </a:rPr>
              <a:t>BUS ASSIGNMENT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21488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Capacity: 30 seats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2651760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C"/>
                </a:solidFill>
                <a:latin typeface="Aptos"/>
              </a:rPr>
              <a:t>A → B → C → D → School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2461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A869"/>
                </a:solidFill>
                <a:latin typeface="Aptos"/>
              </a:rPr>
              <a:t>Load: 26 / 30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46920" y="3182112"/>
            <a:ext cx="1097280" cy="347472"/>
          </a:xfrm>
          <a:prstGeom prst="roundRect">
            <a:avLst/>
          </a:prstGeom>
          <a:solidFill>
            <a:srgbClr val="34A869"/>
          </a:solidFill>
          <a:ln>
            <a:solidFill>
              <a:srgbClr val="34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720072" y="3218688"/>
            <a:ext cx="9509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FEASIBLE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3749039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Total pickup-road distance: 11 km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48006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8680" y="501091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647082"/>
                </a:solidFill>
                <a:latin typeface="Aptos"/>
              </a:rPr>
              <a:t>Route cost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2C70D6"/>
                </a:solidFill>
                <a:latin typeface="Aptos"/>
              </a:rPr>
              <a:t>11 km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48006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0" y="501091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647082"/>
                </a:solidFill>
                <a:latin typeface="Aptos"/>
              </a:rPr>
              <a:t>Capacity used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34A869"/>
                </a:solidFill>
                <a:latin typeface="Aptos"/>
              </a:rPr>
              <a:t>86.7%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2440" y="48006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75319" y="501091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647082"/>
                </a:solidFill>
                <a:latin typeface="Aptos"/>
              </a:rPr>
              <a:t>Stops served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496519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49134"/>
                </a:solidFill>
                <a:latin typeface="Aptos"/>
              </a:rPr>
              <a:t>4 / 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6080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47082"/>
                </a:solidFill>
                <a:latin typeface="Aptos"/>
              </a:rPr>
              <a:t>Decision log: prioritize feasible high-priority stops → minimize added distance → update capacity after every pickup.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6601968"/>
            <a:ext cx="109270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6. Expected Output &amp;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1D2E8"/>
                </a:solidFill>
                <a:latin typeface="Aptos"/>
              </a:rPr>
              <a:t>The prototype should show not only the route, but also why the route was selected.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2514600" cy="1508760"/>
          </a:xfrm>
          <a:prstGeom prst="roundRect">
            <a:avLst/>
          </a:prstGeom>
          <a:solidFill>
            <a:srgbClr val="1E3150"/>
          </a:solidFill>
          <a:ln>
            <a:solidFill>
              <a:srgbClr val="39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011680"/>
            <a:ext cx="384048" cy="384048"/>
          </a:xfrm>
          <a:prstGeom prst="ellipse">
            <a:avLst/>
          </a:prstGeom>
          <a:solidFill>
            <a:srgbClr val="2C70D6"/>
          </a:solidFill>
          <a:ln>
            <a:solidFill>
              <a:srgbClr val="2C7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9888" y="197510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51460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DDAEB"/>
                </a:solidFill>
                <a:latin typeface="Aptos"/>
              </a:rPr>
              <a:t>Ordered pickup stops + school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7" y="1783080"/>
            <a:ext cx="2514600" cy="1508760"/>
          </a:xfrm>
          <a:prstGeom prst="roundRect">
            <a:avLst/>
          </a:prstGeom>
          <a:solidFill>
            <a:srgbClr val="1E3150"/>
          </a:solidFill>
          <a:ln>
            <a:solidFill>
              <a:srgbClr val="39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48456" y="2011680"/>
            <a:ext cx="384048" cy="384048"/>
          </a:xfrm>
          <a:prstGeom prst="ellipse">
            <a:avLst/>
          </a:prstGeom>
          <a:solidFill>
            <a:srgbClr val="35BCC9"/>
          </a:solidFill>
          <a:ln>
            <a:solidFill>
              <a:srgbClr val="35B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78807" y="197510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51460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DDAEB"/>
                </a:solidFill>
                <a:latin typeface="Aptos"/>
              </a:rPr>
              <a:t>Shortest road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1783080"/>
            <a:ext cx="2514600" cy="1508760"/>
          </a:xfrm>
          <a:prstGeom prst="roundRect">
            <a:avLst/>
          </a:prstGeom>
          <a:solidFill>
            <a:srgbClr val="1E3150"/>
          </a:solidFill>
          <a:ln>
            <a:solidFill>
              <a:srgbClr val="39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37375" y="2011680"/>
            <a:ext cx="384048" cy="384048"/>
          </a:xfrm>
          <a:prstGeom prst="ellipse">
            <a:avLst/>
          </a:prstGeom>
          <a:solidFill>
            <a:srgbClr val="34A869"/>
          </a:solidFill>
          <a:ln>
            <a:solidFill>
              <a:srgbClr val="34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7" y="197510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51460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DDAEB"/>
                </a:solidFill>
                <a:latin typeface="Aptos"/>
              </a:rPr>
              <a:t>Capacity-aware bus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1783080"/>
            <a:ext cx="2514600" cy="1508760"/>
          </a:xfrm>
          <a:prstGeom prst="roundRect">
            <a:avLst/>
          </a:prstGeom>
          <a:solidFill>
            <a:srgbClr val="1E3150"/>
          </a:solidFill>
          <a:ln>
            <a:solidFill>
              <a:srgbClr val="39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26296" y="2011680"/>
            <a:ext cx="384048" cy="384048"/>
          </a:xfrm>
          <a:prstGeom prst="ellipse">
            <a:avLst/>
          </a:prstGeom>
          <a:solidFill>
            <a:srgbClr val="F49134"/>
          </a:solidFill>
          <a:ln>
            <a:solidFill>
              <a:srgbClr val="F4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56648" y="197510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51460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DDAEB"/>
                </a:solidFill>
                <a:latin typeface="Aptos"/>
              </a:rPr>
              <a:t>Decision log + objective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03320"/>
            <a:ext cx="6492240" cy="2103120"/>
          </a:xfrm>
          <a:prstGeom prst="roundRect">
            <a:avLst/>
          </a:prstGeom>
          <a:solidFill>
            <a:srgbClr val="1E3150"/>
          </a:solidFill>
          <a:ln>
            <a:solidFill>
              <a:srgbClr val="39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BCC9"/>
                </a:solidFill>
                <a:latin typeface="Aptos"/>
              </a:rPr>
              <a:t>SUCCESS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8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  <a:defRPr sz="1320">
                <a:solidFill>
                  <a:srgbClr val="FFFFFF"/>
                </a:solidFill>
                <a:latin typeface="Aptos"/>
              </a:defRPr>
            </a:pPr>
            <a:r>
              <a:t>•  Correct shortest-path calculation for non-negative edge costs</a:t>
            </a:r>
          </a:p>
          <a:p>
            <a:pPr>
              <a:spcAft>
                <a:spcPts val="600"/>
              </a:spcAft>
              <a:defRPr sz="1320">
                <a:solidFill>
                  <a:srgbClr val="FFFFFF"/>
                </a:solidFill>
                <a:latin typeface="Aptos"/>
              </a:defRPr>
            </a:pPr>
            <a:r>
              <a:t>•  Feasible assignments under bus capacity constraints</a:t>
            </a:r>
          </a:p>
          <a:p>
            <a:pPr>
              <a:spcAft>
                <a:spcPts val="600"/>
              </a:spcAft>
              <a:defRPr sz="1320">
                <a:solidFill>
                  <a:srgbClr val="FFFFFF"/>
                </a:solidFill>
                <a:latin typeface="Aptos"/>
              </a:defRPr>
            </a:pPr>
            <a:r>
              <a:t>•  Clear comparison of Dijkstra, BFS and Greedy behavior</a:t>
            </a:r>
          </a:p>
          <a:p>
            <a:pPr>
              <a:spcAft>
                <a:spcPts val="600"/>
              </a:spcAft>
              <a:defRPr sz="1320">
                <a:solidFill>
                  <a:srgbClr val="FFFFFF"/>
                </a:solidFill>
                <a:latin typeface="Aptos"/>
              </a:defRPr>
            </a:pPr>
            <a:r>
              <a:t>•  Readable metrics: distance, load, stops served and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703320"/>
            <a:ext cx="4114800" cy="2103120"/>
          </a:xfrm>
          <a:prstGeom prst="roundRect">
            <a:avLst/>
          </a:prstGeom>
          <a:solidFill>
            <a:srgbClr val="243D59"/>
          </a:solidFill>
          <a:ln>
            <a:solidFill>
              <a:srgbClr val="39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79" y="39776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9134"/>
                </a:solidFill>
                <a:latin typeface="Aptos"/>
              </a:rPr>
              <a:t>PROJECT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434840"/>
            <a:ext cx="3474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Efficient + Feasible
+ Explainable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5257800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DDAEB"/>
                </a:solidFill>
                <a:latin typeface="Aptos"/>
              </a:rPr>
              <a:t>Algorithms turn a real routing problem into visible, measurable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910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BCC9"/>
                </a:solidFill>
                <a:latin typeface="Aptos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291072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0">
                <a:solidFill>
                  <a:srgbClr val="B0C4DC"/>
                </a:solidFill>
                <a:latin typeface="Aptos"/>
              </a:rPr>
              <a:t>School Bus Route Planner • DAA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601968"/>
            <a:ext cx="109270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692</Words>
  <Application>Microsoft Office PowerPoint</Application>
  <PresentationFormat>Widescreen</PresentationFormat>
  <Paragraphs>174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SATHVIK REDDY</dc:creator>
  <cp:keywords/>
  <dc:description>generated using python-pptx</dc:description>
  <cp:lastModifiedBy>Sathvik Reddy</cp:lastModifiedBy>
  <cp:revision>3</cp:revision>
  <dcterms:created xsi:type="dcterms:W3CDTF">2013-01-27T09:14:16Z</dcterms:created>
  <dcterms:modified xsi:type="dcterms:W3CDTF">2026-10-03T08:50:19Z</dcterms:modified>
  <cp:category/>
</cp:coreProperties>
</file>